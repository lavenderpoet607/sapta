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20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gradFill rotWithShape="1">
            <a:gsLst>
              <a:gs pos="0">
                <a:srgbClr val="386BF6"/>
              </a:gs>
              <a:gs pos="100000">
                <a:srgbClr val="06D6A0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7772400" y="-1828800"/>
            <a:ext cx="6400800" cy="6400800"/>
          </a:xfrm>
          <a:prstGeom prst="ellipse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144000" y="4114800"/>
            <a:ext cx="4114800" cy="4114800"/>
          </a:xfrm>
          <a:prstGeom prst="ellipse">
            <a:avLst/>
          </a:prstGeom>
          <a:solidFill>
            <a:srgbClr val="12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-1828800" y="5029200"/>
            <a:ext cx="3657600" cy="3657600"/>
          </a:xfrm>
          <a:prstGeom prst="ellipse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97280" y="1645920"/>
            <a:ext cx="41148" cy="3200400"/>
          </a:xfrm>
          <a:prstGeom prst="rect">
            <a:avLst/>
          </a:prstGeom>
          <a:gradFill rotWithShape="1">
            <a:gsLst>
              <a:gs pos="0">
                <a:srgbClr val="386BF6"/>
              </a:gs>
              <a:gs pos="100000">
                <a:srgbClr val="06D6A0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463040" y="1645920"/>
            <a:ext cx="64008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400" b="1" i="0">
                <a:solidFill>
                  <a:srgbClr val="FFFFFF"/>
                </a:solidFill>
                <a:latin typeface="Segoe UI Light"/>
              </a:defRPr>
            </a:pPr>
            <a:r>
              <a:t>SAPTA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743200"/>
            <a:ext cx="6400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600" b="1" i="0">
                <a:solidFill>
                  <a:srgbClr val="06D6A0"/>
                </a:solidFill>
                <a:latin typeface="Segoe UI Semibold"/>
              </a:defRPr>
            </a:pPr>
            <a:r>
              <a:t>Sistem Absensi Pelatihan</a:t>
            </a:r>
          </a:p>
        </p:txBody>
      </p:sp>
      <p:sp>
        <p:nvSpPr>
          <p:cNvPr id="9" name="Rectangle 8"/>
          <p:cNvSpPr/>
          <p:nvPr/>
        </p:nvSpPr>
        <p:spPr>
          <a:xfrm>
            <a:off x="1463040" y="3383280"/>
            <a:ext cx="2743200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463040" y="3566160"/>
            <a:ext cx="59436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 i="0">
                <a:solidFill>
                  <a:srgbClr val="94A3B8"/>
                </a:solidFill>
                <a:latin typeface="Segoe UI Light"/>
              </a:defRPr>
            </a:pPr>
            <a:r>
              <a:t>Aplikasi pencatatan kehadiran pelatihan berbasis mobile</a:t>
            </a:r>
            <a:br/>
            <a:r>
              <a:t>dengan fitur GPS tracking, manajemen presensi,</a:t>
            </a:r>
            <a:br/>
            <a:r>
              <a:t>dan dashboard statistik real-time.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63040" y="4937760"/>
            <a:ext cx="1097280" cy="347472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386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463040" y="4956048"/>
            <a:ext cx="1097280" cy="31089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 i="0">
                <a:solidFill>
                  <a:srgbClr val="386BF6"/>
                </a:solidFill>
                <a:latin typeface="Segoe UI Semibold"/>
              </a:defRPr>
            </a:pPr>
            <a:r>
              <a:t>Flutter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97480" y="4937760"/>
            <a:ext cx="1097280" cy="347472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3ECF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697480" y="4956048"/>
            <a:ext cx="1097280" cy="31089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 i="0">
                <a:solidFill>
                  <a:srgbClr val="3ECF8E"/>
                </a:solidFill>
                <a:latin typeface="Segoe UI Semibold"/>
              </a:defRPr>
            </a:pPr>
            <a:r>
              <a:rPr lang="en-US" dirty="0" err="1"/>
              <a:t>Sqflite</a:t>
            </a:r>
            <a:endParaRPr dirty="0"/>
          </a:p>
        </p:txBody>
      </p:sp>
      <p:sp>
        <p:nvSpPr>
          <p:cNvPr id="15" name="Rounded Rectangle 14"/>
          <p:cNvSpPr/>
          <p:nvPr/>
        </p:nvSpPr>
        <p:spPr>
          <a:xfrm>
            <a:off x="3931920" y="4937760"/>
            <a:ext cx="1371600" cy="347472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931920" y="4956048"/>
            <a:ext cx="1371600" cy="31089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 i="0">
                <a:solidFill>
                  <a:srgbClr val="4285F4"/>
                </a:solidFill>
                <a:latin typeface="Segoe UI Semibold"/>
              </a:defRPr>
            </a:pPr>
            <a:r>
              <a:t>Google Maps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40680" y="4937760"/>
            <a:ext cx="1371600" cy="347472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40680" y="4956048"/>
            <a:ext cx="1371600" cy="31089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 i="0">
                <a:solidFill>
                  <a:srgbClr val="8B5CF6"/>
                </a:solidFill>
                <a:latin typeface="Segoe UI Semibold"/>
              </a:defRPr>
            </a:pPr>
            <a:r>
              <a:t>Dark Mode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gradFill rotWithShape="1">
            <a:gsLst>
              <a:gs pos="0">
                <a:srgbClr val="06D6A0"/>
              </a:gs>
              <a:gs pos="100000">
                <a:srgbClr val="386BF6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gradFill rotWithShape="1">
            <a:gsLst>
              <a:gs pos="0">
                <a:srgbClr val="386BF6"/>
              </a:gs>
              <a:gs pos="100000">
                <a:srgbClr val="06D6A0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144000" y="3657600"/>
            <a:ext cx="4572000" cy="4572000"/>
          </a:xfrm>
          <a:prstGeom prst="ellipse">
            <a:avLst/>
          </a:prstGeom>
          <a:solidFill>
            <a:srgbClr val="12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1371600" y="-1371600"/>
            <a:ext cx="3200400" cy="3200400"/>
          </a:xfrm>
          <a:prstGeom prst="ellipse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5486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 i="0">
                <a:solidFill>
                  <a:srgbClr val="06D6A0"/>
                </a:solidFill>
                <a:latin typeface="Segoe UI Semibold"/>
              </a:defRPr>
            </a:pPr>
            <a:r>
              <a:t>FITUR UTAMA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8580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 i="0">
                <a:solidFill>
                  <a:srgbClr val="FFFFFF"/>
                </a:solidFill>
                <a:latin typeface="Segoe UI Light"/>
              </a:defRPr>
            </a:pPr>
            <a:r>
              <a:t>Gambaran Fitur Aplikasi SAPTA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280160"/>
            <a:ext cx="1645920" cy="32004"/>
          </a:xfrm>
          <a:prstGeom prst="rect">
            <a:avLst/>
          </a:prstGeom>
          <a:gradFill rotWithShape="1">
            <a:gsLst>
              <a:gs pos="0">
                <a:srgbClr val="386BF6"/>
              </a:gs>
              <a:gs pos="100000">
                <a:srgbClr val="06D6A0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2514600" cy="1965960"/>
          </a:xfrm>
          <a:prstGeom prst="roundRect">
            <a:avLst>
              <a:gd name="adj" fmla="val 6000"/>
            </a:avLst>
          </a:prstGeom>
          <a:solidFill>
            <a:srgbClr val="162035"/>
          </a:solidFill>
          <a:ln w="635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7240" y="2011680"/>
            <a:ext cx="457200" cy="32004"/>
          </a:xfrm>
          <a:prstGeom prst="rect">
            <a:avLst/>
          </a:prstGeom>
          <a:solidFill>
            <a:srgbClr val="386B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219456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 i="0">
                <a:solidFill>
                  <a:srgbClr val="386BF6"/>
                </a:solidFill>
                <a:latin typeface="Segoe UI Semibold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606040"/>
            <a:ext cx="2057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 i="0">
                <a:solidFill>
                  <a:srgbClr val="FFFFFF"/>
                </a:solidFill>
                <a:latin typeface="Segoe UI Semibold"/>
              </a:defRPr>
            </a:pPr>
            <a:r>
              <a:t>Autentikasi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971800"/>
            <a:ext cx="2057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 i="0">
                <a:solidFill>
                  <a:srgbClr val="94A3B8"/>
                </a:solidFill>
                <a:latin typeface="Segoe UI Light"/>
              </a:defRPr>
            </a:pPr>
            <a:r>
              <a:t>Login &amp; Registrasi dengan</a:t>
            </a:r>
            <a:br/>
            <a:r>
              <a:t>email dan password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10128" y="1828800"/>
            <a:ext cx="2514600" cy="1965960"/>
          </a:xfrm>
          <a:prstGeom prst="roundRect">
            <a:avLst>
              <a:gd name="adj" fmla="val 6000"/>
            </a:avLst>
          </a:prstGeom>
          <a:solidFill>
            <a:srgbClr val="162035"/>
          </a:solidFill>
          <a:ln w="635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538728" y="2011680"/>
            <a:ext cx="457200" cy="3200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38728" y="219456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 i="0">
                <a:solidFill>
                  <a:srgbClr val="4285F4"/>
                </a:solidFill>
                <a:latin typeface="Segoe UI Semibold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8728" y="2606040"/>
            <a:ext cx="2057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 i="0">
                <a:solidFill>
                  <a:srgbClr val="FFFFFF"/>
                </a:solidFill>
                <a:latin typeface="Segoe UI Semibold"/>
              </a:defRPr>
            </a:pPr>
            <a:r>
              <a:t>Lokasi GPS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38728" y="2971800"/>
            <a:ext cx="2057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 i="0">
                <a:solidFill>
                  <a:srgbClr val="94A3B8"/>
                </a:solidFill>
                <a:latin typeface="Segoe UI Light"/>
              </a:defRPr>
            </a:pPr>
            <a:r>
              <a:t>Deteksi lokasi otomatis</a:t>
            </a:r>
            <a:br/>
            <a:r>
              <a:t>dengan Google Maps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71616" y="1828800"/>
            <a:ext cx="2514600" cy="1965960"/>
          </a:xfrm>
          <a:prstGeom prst="roundRect">
            <a:avLst>
              <a:gd name="adj" fmla="val 6000"/>
            </a:avLst>
          </a:prstGeom>
          <a:solidFill>
            <a:srgbClr val="162035"/>
          </a:solidFill>
          <a:ln w="635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300216" y="2011680"/>
            <a:ext cx="457200" cy="3200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00216" y="219456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 i="0">
                <a:solidFill>
                  <a:srgbClr val="06D6A0"/>
                </a:solidFill>
                <a:latin typeface="Segoe UI Semibold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0216" y="2606040"/>
            <a:ext cx="2057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 i="0">
                <a:solidFill>
                  <a:srgbClr val="FFFFFF"/>
                </a:solidFill>
                <a:latin typeface="Segoe UI Semibold"/>
              </a:defRPr>
            </a:pPr>
            <a:r>
              <a:t>Absen Masuk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0216" y="2971800"/>
            <a:ext cx="2057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 i="0">
                <a:solidFill>
                  <a:srgbClr val="94A3B8"/>
                </a:solidFill>
                <a:latin typeface="Segoe UI Light"/>
              </a:defRPr>
            </a:pPr>
            <a:r>
              <a:t>Catat kehadiran masuk</a:t>
            </a:r>
            <a:br/>
            <a:r>
              <a:t>dengan konfirmasi lokasi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33104" y="1828800"/>
            <a:ext cx="2514600" cy="1965960"/>
          </a:xfrm>
          <a:prstGeom prst="roundRect">
            <a:avLst>
              <a:gd name="adj" fmla="val 6000"/>
            </a:avLst>
          </a:prstGeom>
          <a:solidFill>
            <a:srgbClr val="162035"/>
          </a:solidFill>
          <a:ln w="635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061704" y="2011680"/>
            <a:ext cx="457200" cy="3200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061704" y="219456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 i="0">
                <a:solidFill>
                  <a:srgbClr val="F97316"/>
                </a:solidFill>
                <a:latin typeface="Segoe UI Semibold"/>
              </a:defRPr>
            </a:pPr>
            <a: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61704" y="2606040"/>
            <a:ext cx="2057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 i="0">
                <a:solidFill>
                  <a:srgbClr val="FFFFFF"/>
                </a:solidFill>
                <a:latin typeface="Segoe UI Semibold"/>
              </a:defRPr>
            </a:pPr>
            <a:r>
              <a:t>Absen Pulang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61704" y="2971800"/>
            <a:ext cx="2057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 i="0">
                <a:solidFill>
                  <a:srgbClr val="94A3B8"/>
                </a:solidFill>
                <a:latin typeface="Segoe UI Light"/>
              </a:defRPr>
            </a:pPr>
            <a:r>
              <a:t>Catat kepulangan dengan</a:t>
            </a:r>
            <a:br/>
            <a:r>
              <a:t>timestamp otomatis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069080"/>
            <a:ext cx="2514600" cy="1965960"/>
          </a:xfrm>
          <a:prstGeom prst="roundRect">
            <a:avLst>
              <a:gd name="adj" fmla="val 6000"/>
            </a:avLst>
          </a:prstGeom>
          <a:solidFill>
            <a:srgbClr val="162035"/>
          </a:solidFill>
          <a:ln w="635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77240" y="4251960"/>
            <a:ext cx="457200" cy="3200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77240" y="443484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 i="0">
                <a:solidFill>
                  <a:srgbClr val="8B5CF6"/>
                </a:solidFill>
                <a:latin typeface="Segoe UI Semibold"/>
              </a:defRPr>
            </a:pPr>
            <a: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4846320"/>
            <a:ext cx="2057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 i="0">
                <a:solidFill>
                  <a:srgbClr val="FFFFFF"/>
                </a:solidFill>
                <a:latin typeface="Segoe UI Semibold"/>
              </a:defRPr>
            </a:pPr>
            <a:r>
              <a:t>Pengajuan Izin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5212080"/>
            <a:ext cx="2057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 i="0">
                <a:solidFill>
                  <a:srgbClr val="94A3B8"/>
                </a:solidFill>
                <a:latin typeface="Segoe UI Light"/>
              </a:defRPr>
            </a:pPr>
            <a:r>
              <a:t>Ajukan izin atau sakit</a:t>
            </a:r>
            <a:br/>
            <a:r>
              <a:t>dengan alasan tertulis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310128" y="4069080"/>
            <a:ext cx="2514600" cy="1965960"/>
          </a:xfrm>
          <a:prstGeom prst="roundRect">
            <a:avLst>
              <a:gd name="adj" fmla="val 6000"/>
            </a:avLst>
          </a:prstGeom>
          <a:solidFill>
            <a:srgbClr val="162035"/>
          </a:solidFill>
          <a:ln w="635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3538728" y="4251960"/>
            <a:ext cx="457200" cy="32004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538728" y="443484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 i="0">
                <a:solidFill>
                  <a:srgbClr val="EC4899"/>
                </a:solidFill>
                <a:latin typeface="Segoe UI Semibold"/>
              </a:defRPr>
            </a:pPr>
            <a: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38728" y="4846320"/>
            <a:ext cx="2057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 i="0">
                <a:solidFill>
                  <a:srgbClr val="FFFFFF"/>
                </a:solidFill>
                <a:latin typeface="Segoe UI Semibold"/>
              </a:defRPr>
            </a:pPr>
            <a:r>
              <a:t>Statistik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38728" y="5212080"/>
            <a:ext cx="2057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 i="0">
                <a:solidFill>
                  <a:srgbClr val="94A3B8"/>
                </a:solidFill>
                <a:latin typeface="Segoe UI Light"/>
              </a:defRPr>
            </a:pPr>
            <a:r>
              <a:t>Ringkasan kehadiran</a:t>
            </a:r>
            <a:br/>
            <a:r>
              <a:t>real-time dashboard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071616" y="4069080"/>
            <a:ext cx="2514600" cy="1965960"/>
          </a:xfrm>
          <a:prstGeom prst="roundRect">
            <a:avLst>
              <a:gd name="adj" fmla="val 6000"/>
            </a:avLst>
          </a:prstGeom>
          <a:solidFill>
            <a:srgbClr val="162035"/>
          </a:solidFill>
          <a:ln w="635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300216" y="4251960"/>
            <a:ext cx="457200" cy="3200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300216" y="443484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 i="0">
                <a:solidFill>
                  <a:srgbClr val="06B6D4"/>
                </a:solidFill>
                <a:latin typeface="Segoe UI Semibold"/>
              </a:defRPr>
            </a:pPr>
            <a:r>
              <a:t>07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0216" y="4846320"/>
            <a:ext cx="2057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 i="0">
                <a:solidFill>
                  <a:srgbClr val="FFFFFF"/>
                </a:solidFill>
                <a:latin typeface="Segoe UI Semibold"/>
              </a:defRPr>
            </a:pPr>
            <a:r>
              <a:t>Riwayat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00216" y="5212080"/>
            <a:ext cx="2057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 i="0">
                <a:solidFill>
                  <a:srgbClr val="94A3B8"/>
                </a:solidFill>
                <a:latin typeface="Segoe UI Light"/>
              </a:defRPr>
            </a:pPr>
            <a:r>
              <a:t>Catatan lengkap dengan</a:t>
            </a:r>
            <a:br/>
            <a:r>
              <a:t>filter dan detail info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833104" y="4069080"/>
            <a:ext cx="2514600" cy="1965960"/>
          </a:xfrm>
          <a:prstGeom prst="roundRect">
            <a:avLst>
              <a:gd name="adj" fmla="val 6000"/>
            </a:avLst>
          </a:prstGeom>
          <a:solidFill>
            <a:srgbClr val="162035"/>
          </a:solidFill>
          <a:ln w="635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9061704" y="4251960"/>
            <a:ext cx="457200" cy="3200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061704" y="443484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 i="0">
                <a:solidFill>
                  <a:srgbClr val="F59E0B"/>
                </a:solidFill>
                <a:latin typeface="Segoe UI Semibold"/>
              </a:defRPr>
            </a:pPr>
            <a:r>
              <a:t>08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61704" y="4846320"/>
            <a:ext cx="2057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 i="0">
                <a:solidFill>
                  <a:srgbClr val="FFFFFF"/>
                </a:solidFill>
                <a:latin typeface="Segoe UI Semibold"/>
              </a:defRPr>
            </a:pPr>
            <a:r>
              <a:t>Profil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61704" y="5212080"/>
            <a:ext cx="2057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 i="0">
                <a:solidFill>
                  <a:srgbClr val="94A3B8"/>
                </a:solidFill>
                <a:latin typeface="Segoe UI Light"/>
              </a:defRPr>
            </a:pPr>
            <a:r>
              <a:t>Kelola data peserta</a:t>
            </a:r>
            <a:br/>
            <a:r>
              <a:t>dan pengaturan tema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gradFill rotWithShape="1">
            <a:gsLst>
              <a:gs pos="0">
                <a:srgbClr val="06D6A0"/>
              </a:gs>
              <a:gs pos="100000">
                <a:srgbClr val="386BF6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 i="0">
                <a:solidFill>
                  <a:srgbClr val="64748B"/>
                </a:solidFill>
                <a:latin typeface="Segoe UI Light"/>
              </a:defRPr>
            </a:pPr>
            <a:r>
              <a:t>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gradFill rotWithShape="1">
            <a:gsLst>
              <a:gs pos="0">
                <a:srgbClr val="386BF6"/>
              </a:gs>
              <a:gs pos="100000">
                <a:srgbClr val="06D6A0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5486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 i="0">
                <a:solidFill>
                  <a:srgbClr val="06D6A0"/>
                </a:solidFill>
                <a:latin typeface="Segoe UI Semibold"/>
              </a:defRPr>
            </a:pPr>
            <a:r>
              <a:t>LOGIN &amp; REGISTRASI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 i="0">
                <a:solidFill>
                  <a:srgbClr val="FFFFFF"/>
                </a:solidFill>
                <a:latin typeface="Segoe UI Light"/>
              </a:defRPr>
            </a:pPr>
            <a:r>
              <a:t>Autentikasi Pengguna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280160"/>
            <a:ext cx="1645920" cy="32004"/>
          </a:xfrm>
          <a:prstGeom prst="rect">
            <a:avLst/>
          </a:prstGeom>
          <a:gradFill rotWithShape="1">
            <a:gsLst>
              <a:gs pos="0">
                <a:srgbClr val="386BF6"/>
              </a:gs>
              <a:gs pos="100000">
                <a:srgbClr val="06D6A0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958187" y="2011680"/>
            <a:ext cx="2606040" cy="2926080"/>
          </a:xfrm>
          <a:prstGeom prst="ellipse">
            <a:avLst/>
          </a:prstGeom>
          <a:solidFill>
            <a:srgbClr val="12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159355" y="1417320"/>
            <a:ext cx="2203704" cy="4443984"/>
          </a:xfrm>
          <a:prstGeom prst="roundRect">
            <a:avLst>
              <a:gd name="adj" fmla="val 4000"/>
            </a:avLst>
          </a:prstGeom>
          <a:solidFill>
            <a:srgbClr val="162035"/>
          </a:solidFill>
          <a:ln w="635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Screenshot 2026-10-05 0944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507" y="1490472"/>
            <a:ext cx="2057400" cy="42976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2209647" y="598932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162035"/>
          </a:solidFill>
          <a:ln w="635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09647" y="5989320"/>
            <a:ext cx="2103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 i="0">
                <a:solidFill>
                  <a:srgbClr val="94A3B8"/>
                </a:solidFill>
                <a:latin typeface="Segoe UI"/>
              </a:defRPr>
            </a:pPr>
            <a:r>
              <a:t>Login  -  Light Mode</a:t>
            </a:r>
          </a:p>
        </p:txBody>
      </p:sp>
      <p:sp>
        <p:nvSpPr>
          <p:cNvPr id="11" name="Oval 10"/>
          <p:cNvSpPr/>
          <p:nvPr/>
        </p:nvSpPr>
        <p:spPr>
          <a:xfrm>
            <a:off x="4792827" y="2011680"/>
            <a:ext cx="2606040" cy="2926080"/>
          </a:xfrm>
          <a:prstGeom prst="ellipse">
            <a:avLst/>
          </a:prstGeom>
          <a:solidFill>
            <a:srgbClr val="12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993995" y="1417320"/>
            <a:ext cx="2203704" cy="4443984"/>
          </a:xfrm>
          <a:prstGeom prst="roundRect">
            <a:avLst>
              <a:gd name="adj" fmla="val 4000"/>
            </a:avLst>
          </a:prstGeom>
          <a:solidFill>
            <a:srgbClr val="162035"/>
          </a:solidFill>
          <a:ln w="635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Screenshot 2026-10-05 0944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7147" y="1490472"/>
            <a:ext cx="2057400" cy="429768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5044287" y="598932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162035"/>
          </a:solidFill>
          <a:ln w="635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44287" y="5989320"/>
            <a:ext cx="2103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 i="0">
                <a:solidFill>
                  <a:srgbClr val="94A3B8"/>
                </a:solidFill>
                <a:latin typeface="Segoe UI"/>
              </a:defRPr>
            </a:pPr>
            <a:r>
              <a:t>Login  -  Dark Mode</a:t>
            </a:r>
          </a:p>
        </p:txBody>
      </p:sp>
      <p:sp>
        <p:nvSpPr>
          <p:cNvPr id="16" name="Oval 15"/>
          <p:cNvSpPr/>
          <p:nvPr/>
        </p:nvSpPr>
        <p:spPr>
          <a:xfrm>
            <a:off x="7627467" y="2011680"/>
            <a:ext cx="2606040" cy="2926080"/>
          </a:xfrm>
          <a:prstGeom prst="ellipse">
            <a:avLst/>
          </a:prstGeom>
          <a:solidFill>
            <a:srgbClr val="12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828635" y="1417320"/>
            <a:ext cx="2203704" cy="4443984"/>
          </a:xfrm>
          <a:prstGeom prst="roundRect">
            <a:avLst>
              <a:gd name="adj" fmla="val 4000"/>
            </a:avLst>
          </a:prstGeom>
          <a:solidFill>
            <a:srgbClr val="162035"/>
          </a:solidFill>
          <a:ln w="635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Screenshot 2026-10-05 09445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1787" y="1490472"/>
            <a:ext cx="2057400" cy="4297680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7878927" y="598932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162035"/>
          </a:solidFill>
          <a:ln w="635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878927" y="5989320"/>
            <a:ext cx="2103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 i="0">
                <a:solidFill>
                  <a:srgbClr val="94A3B8"/>
                </a:solidFill>
                <a:latin typeface="Segoe UI"/>
              </a:defRPr>
            </a:pPr>
            <a:r>
              <a:t>Pendaftaran Peserta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gradFill rotWithShape="1">
            <a:gsLst>
              <a:gs pos="0">
                <a:srgbClr val="06D6A0"/>
              </a:gs>
              <a:gs pos="100000">
                <a:srgbClr val="386BF6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 i="0">
                <a:solidFill>
                  <a:srgbClr val="64748B"/>
                </a:solidFill>
                <a:latin typeface="Segoe UI Light"/>
              </a:defRPr>
            </a:pPr>
            <a:r>
              <a:t>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gradFill rotWithShape="1">
            <a:gsLst>
              <a:gs pos="0">
                <a:srgbClr val="386BF6"/>
              </a:gs>
              <a:gs pos="100000">
                <a:srgbClr val="06D6A0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5486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 i="0">
                <a:solidFill>
                  <a:srgbClr val="06D6A0"/>
                </a:solidFill>
                <a:latin typeface="Segoe UI Semibold"/>
              </a:defRPr>
            </a:pPr>
            <a:r>
              <a:t>HALAMAN UTAMA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 i="0">
                <a:solidFill>
                  <a:srgbClr val="FFFFFF"/>
                </a:solidFill>
                <a:latin typeface="Segoe UI Light"/>
              </a:defRPr>
            </a:pPr>
            <a:r>
              <a:t>Dashboard Utama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280160"/>
            <a:ext cx="1645920" cy="32004"/>
          </a:xfrm>
          <a:prstGeom prst="rect">
            <a:avLst/>
          </a:prstGeom>
          <a:gradFill rotWithShape="1">
            <a:gsLst>
              <a:gs pos="0">
                <a:srgbClr val="386BF6"/>
              </a:gs>
              <a:gs pos="100000">
                <a:srgbClr val="06D6A0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5486400" y="1920240"/>
            <a:ext cx="3703320" cy="3749040"/>
          </a:xfrm>
          <a:prstGeom prst="ellipse">
            <a:avLst/>
          </a:prstGeom>
          <a:solidFill>
            <a:srgbClr val="12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108192" y="1353312"/>
            <a:ext cx="2459736" cy="4882896"/>
          </a:xfrm>
          <a:prstGeom prst="roundRect">
            <a:avLst>
              <a:gd name="adj" fmla="val 4000"/>
            </a:avLst>
          </a:prstGeom>
          <a:solidFill>
            <a:srgbClr val="162035"/>
          </a:solidFill>
          <a:ln w="9525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Screenshot 2026-10-05 0945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463040"/>
            <a:ext cx="2240280" cy="46634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22960" y="2011680"/>
            <a:ext cx="32004" cy="3200400"/>
          </a:xfrm>
          <a:prstGeom prst="rect">
            <a:avLst/>
          </a:prstGeom>
          <a:solidFill>
            <a:srgbClr val="386B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2011680"/>
            <a:ext cx="4389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F1F5F9"/>
                </a:solidFill>
                <a:latin typeface="Segoe UI"/>
              </a:defRPr>
            </a:pPr>
            <a:r>
              <a:t>Dashboard menampilkan informasi greeting, lokasi GPS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F1F5F9"/>
                </a:solidFill>
                <a:latin typeface="Segoe UI"/>
              </a:defRPr>
            </a:pPr>
            <a:r>
              <a:t>real-time dengan peta, dan tombol presensi.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0F172A"/>
                </a:solidFill>
                <a:latin typeface="Segoe UI"/>
              </a:defRPr>
            </a:pPr>
            <a:endParaRPr/>
          </a:p>
          <a:p>
            <a:pPr algn="l">
              <a:spcAft>
                <a:spcPts val="400"/>
              </a:spcAft>
              <a:defRPr sz="1300" b="0">
                <a:solidFill>
                  <a:srgbClr val="94A3B8"/>
                </a:solidFill>
                <a:latin typeface="Segoe UI"/>
              </a:defRPr>
            </a:pPr>
            <a:r>
              <a:t>- Deteksi lokasi otomatis dengan Google Maps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94A3B8"/>
                </a:solidFill>
                <a:latin typeface="Segoe UI"/>
              </a:defRPr>
            </a:pPr>
            <a:r>
              <a:t>- Tampilan peta interaktif dengan marker lokasi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94A3B8"/>
                </a:solidFill>
                <a:latin typeface="Segoe UI"/>
              </a:defRPr>
            </a:pPr>
            <a:r>
              <a:t>- Statistik Total Masuk, Total Izin, dan Selesai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94A3B8"/>
                </a:solidFill>
                <a:latin typeface="Segoe UI"/>
              </a:defRPr>
            </a:pPr>
            <a:r>
              <a:t>- Aktivitas terakhir ditampilkan di bagian bawah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gradFill rotWithShape="1">
            <a:gsLst>
              <a:gs pos="0">
                <a:srgbClr val="06D6A0"/>
              </a:gs>
              <a:gs pos="100000">
                <a:srgbClr val="386BF6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 i="0">
                <a:solidFill>
                  <a:srgbClr val="64748B"/>
                </a:solidFill>
                <a:latin typeface="Segoe UI Light"/>
              </a:defRPr>
            </a:pPr>
            <a:r>
              <a:t>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gradFill rotWithShape="1">
            <a:gsLst>
              <a:gs pos="0">
                <a:srgbClr val="386BF6"/>
              </a:gs>
              <a:gs pos="100000">
                <a:srgbClr val="06D6A0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5486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 i="0">
                <a:solidFill>
                  <a:srgbClr val="06D6A0"/>
                </a:solidFill>
                <a:latin typeface="Segoe UI Semibold"/>
              </a:defRPr>
            </a:pPr>
            <a:r>
              <a:t>ABSEN MASUK &amp; PULANG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 i="0">
                <a:solidFill>
                  <a:srgbClr val="FFFFFF"/>
                </a:solidFill>
                <a:latin typeface="Segoe UI Light"/>
              </a:defRPr>
            </a:pPr>
            <a:r>
              <a:t>Konfirmasi Presensi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280160"/>
            <a:ext cx="1645920" cy="32004"/>
          </a:xfrm>
          <a:prstGeom prst="rect">
            <a:avLst/>
          </a:prstGeom>
          <a:gradFill rotWithShape="1">
            <a:gsLst>
              <a:gs pos="0">
                <a:srgbClr val="386BF6"/>
              </a:gs>
              <a:gs pos="100000">
                <a:srgbClr val="06D6A0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2103120" y="2011680"/>
            <a:ext cx="3108960" cy="3200400"/>
          </a:xfrm>
          <a:prstGeom prst="ellipse">
            <a:avLst/>
          </a:prstGeom>
          <a:solidFill>
            <a:srgbClr val="12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468880" y="1417320"/>
            <a:ext cx="2377440" cy="4754880"/>
          </a:xfrm>
          <a:prstGeom prst="roundRect">
            <a:avLst>
              <a:gd name="adj" fmla="val 4000"/>
            </a:avLst>
          </a:prstGeom>
          <a:solidFill>
            <a:srgbClr val="162035"/>
          </a:solidFill>
          <a:ln w="635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Screenshot 2026-10-05 0946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0" y="1508760"/>
            <a:ext cx="2194560" cy="45720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2560320" y="6263640"/>
            <a:ext cx="2194560" cy="292608"/>
          </a:xfrm>
          <a:prstGeom prst="roundRect">
            <a:avLst>
              <a:gd name="adj" fmla="val 50000"/>
            </a:avLst>
          </a:prstGeom>
          <a:solidFill>
            <a:srgbClr val="162035"/>
          </a:solidFill>
          <a:ln w="635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560320" y="6272784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 i="0">
                <a:solidFill>
                  <a:srgbClr val="94A3B8"/>
                </a:solidFill>
                <a:latin typeface="Segoe UI"/>
              </a:defRPr>
            </a:pPr>
            <a:r>
              <a:t>Dialog Konfirmasi Absen Masuk</a:t>
            </a:r>
            <a:br/>
            <a:r>
              <a:t>dengan alamat dan koordinat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0" y="2011680"/>
            <a:ext cx="3108960" cy="3200400"/>
          </a:xfrm>
          <a:prstGeom prst="ellipse">
            <a:avLst/>
          </a:prstGeom>
          <a:solidFill>
            <a:srgbClr val="12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766560" y="1417320"/>
            <a:ext cx="2377440" cy="4754880"/>
          </a:xfrm>
          <a:prstGeom prst="roundRect">
            <a:avLst>
              <a:gd name="adj" fmla="val 4000"/>
            </a:avLst>
          </a:prstGeom>
          <a:solidFill>
            <a:srgbClr val="162035"/>
          </a:solidFill>
          <a:ln w="635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Screenshot 2026-10-05 09463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508760"/>
            <a:ext cx="2194560" cy="457200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858000" y="6263640"/>
            <a:ext cx="2194560" cy="292608"/>
          </a:xfrm>
          <a:prstGeom prst="roundRect">
            <a:avLst>
              <a:gd name="adj" fmla="val 50000"/>
            </a:avLst>
          </a:prstGeom>
          <a:solidFill>
            <a:srgbClr val="162035"/>
          </a:solidFill>
          <a:ln w="635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0" y="6272784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 i="0">
                <a:solidFill>
                  <a:srgbClr val="94A3B8"/>
                </a:solidFill>
                <a:latin typeface="Segoe UI"/>
              </a:defRPr>
            </a:pPr>
            <a:r>
              <a:t>Dialog Konfirmasi Absen Pulang</a:t>
            </a:r>
            <a:br/>
            <a:r>
              <a:t>dengan alamat dan koordinat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gradFill rotWithShape="1">
            <a:gsLst>
              <a:gs pos="0">
                <a:srgbClr val="06D6A0"/>
              </a:gs>
              <a:gs pos="100000">
                <a:srgbClr val="386BF6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 i="0">
                <a:solidFill>
                  <a:srgbClr val="64748B"/>
                </a:solidFill>
                <a:latin typeface="Segoe UI Light"/>
              </a:defRPr>
            </a:pPr>
            <a:r>
              <a:t>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gradFill rotWithShape="1">
            <a:gsLst>
              <a:gs pos="0">
                <a:srgbClr val="386BF6"/>
              </a:gs>
              <a:gs pos="100000">
                <a:srgbClr val="06D6A0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5486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 i="0">
                <a:solidFill>
                  <a:srgbClr val="06D6A0"/>
                </a:solidFill>
                <a:latin typeface="Segoe UI Semibold"/>
              </a:defRPr>
            </a:pPr>
            <a:r>
              <a:t>FITUR TAMBAHAN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 i="0">
                <a:solidFill>
                  <a:srgbClr val="FFFFFF"/>
                </a:solidFill>
                <a:latin typeface="Segoe UI Light"/>
              </a:defRPr>
            </a:pPr>
            <a:r>
              <a:t>Pengajuan Izin &amp; Detail Lokasi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280160"/>
            <a:ext cx="1645920" cy="32004"/>
          </a:xfrm>
          <a:prstGeom prst="rect">
            <a:avLst/>
          </a:prstGeom>
          <a:gradFill rotWithShape="1">
            <a:gsLst>
              <a:gs pos="0">
                <a:srgbClr val="386BF6"/>
              </a:gs>
              <a:gs pos="100000">
                <a:srgbClr val="06D6A0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2103120" y="2011680"/>
            <a:ext cx="3108960" cy="3200400"/>
          </a:xfrm>
          <a:prstGeom prst="ellipse">
            <a:avLst/>
          </a:prstGeom>
          <a:solidFill>
            <a:srgbClr val="12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468880" y="1417320"/>
            <a:ext cx="2377440" cy="4754880"/>
          </a:xfrm>
          <a:prstGeom prst="roundRect">
            <a:avLst>
              <a:gd name="adj" fmla="val 4000"/>
            </a:avLst>
          </a:prstGeom>
          <a:solidFill>
            <a:srgbClr val="162035"/>
          </a:solidFill>
          <a:ln w="635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Screenshot 2026-10-05 0946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0" y="1508760"/>
            <a:ext cx="2194560" cy="45720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2560320" y="6263640"/>
            <a:ext cx="2194560" cy="411480"/>
          </a:xfrm>
          <a:prstGeom prst="roundRect">
            <a:avLst>
              <a:gd name="adj" fmla="val 50000"/>
            </a:avLst>
          </a:prstGeom>
          <a:solidFill>
            <a:srgbClr val="162035"/>
          </a:solidFill>
          <a:ln w="635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560320" y="6272784"/>
            <a:ext cx="2128221" cy="35661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 i="0">
                <a:solidFill>
                  <a:srgbClr val="94A3B8"/>
                </a:solidFill>
                <a:latin typeface="Segoe UI"/>
              </a:defRPr>
            </a:pPr>
            <a:r>
              <a:rPr dirty="0"/>
              <a:t>Form </a:t>
            </a:r>
            <a:r>
              <a:rPr dirty="0" err="1"/>
              <a:t>Pengajuan</a:t>
            </a:r>
            <a:r>
              <a:rPr dirty="0"/>
              <a:t> </a:t>
            </a:r>
            <a:r>
              <a:rPr dirty="0" err="1"/>
              <a:t>Izin</a:t>
            </a:r>
            <a:r>
              <a:rPr dirty="0"/>
              <a:t> / Sakit</a:t>
            </a:r>
            <a:br>
              <a:rPr dirty="0"/>
            </a:br>
            <a:r>
              <a:rPr dirty="0" err="1"/>
              <a:t>dengan</a:t>
            </a:r>
            <a:r>
              <a:rPr dirty="0"/>
              <a:t> input </a:t>
            </a:r>
            <a:r>
              <a:rPr dirty="0" err="1"/>
              <a:t>alasan</a:t>
            </a:r>
            <a:endParaRPr dirty="0"/>
          </a:p>
        </p:txBody>
      </p:sp>
      <p:sp>
        <p:nvSpPr>
          <p:cNvPr id="11" name="Oval 10"/>
          <p:cNvSpPr/>
          <p:nvPr/>
        </p:nvSpPr>
        <p:spPr>
          <a:xfrm>
            <a:off x="6400800" y="2011680"/>
            <a:ext cx="3108960" cy="3200400"/>
          </a:xfrm>
          <a:prstGeom prst="ellipse">
            <a:avLst/>
          </a:prstGeom>
          <a:solidFill>
            <a:srgbClr val="12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766560" y="1417320"/>
            <a:ext cx="2377440" cy="4754880"/>
          </a:xfrm>
          <a:prstGeom prst="roundRect">
            <a:avLst>
              <a:gd name="adj" fmla="val 4000"/>
            </a:avLst>
          </a:prstGeom>
          <a:solidFill>
            <a:srgbClr val="162035"/>
          </a:solidFill>
          <a:ln w="635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Screenshot 2026-10-05 0947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508760"/>
            <a:ext cx="2194560" cy="457200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858000" y="6263640"/>
            <a:ext cx="2194560" cy="411480"/>
          </a:xfrm>
          <a:prstGeom prst="roundRect">
            <a:avLst>
              <a:gd name="adj" fmla="val 50000"/>
            </a:avLst>
          </a:prstGeom>
          <a:solidFill>
            <a:srgbClr val="162035"/>
          </a:solidFill>
          <a:ln w="635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0" y="6272784"/>
            <a:ext cx="2061882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 i="0">
                <a:solidFill>
                  <a:srgbClr val="94A3B8"/>
                </a:solidFill>
                <a:latin typeface="Segoe UI"/>
              </a:defRPr>
            </a:pPr>
            <a:r>
              <a:rPr dirty="0"/>
              <a:t>Detail Peta Lokasi</a:t>
            </a:r>
            <a:br>
              <a:rPr dirty="0"/>
            </a:br>
            <a:r>
              <a:rPr dirty="0" err="1"/>
              <a:t>dengan</a:t>
            </a:r>
            <a:r>
              <a:rPr dirty="0"/>
              <a:t> Google Maps full-screen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gradFill rotWithShape="1">
            <a:gsLst>
              <a:gs pos="0">
                <a:srgbClr val="06D6A0"/>
              </a:gs>
              <a:gs pos="100000">
                <a:srgbClr val="386BF6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 i="0">
                <a:solidFill>
                  <a:srgbClr val="64748B"/>
                </a:solidFill>
                <a:latin typeface="Segoe UI Light"/>
              </a:defRPr>
            </a:pPr>
            <a:r>
              <a:t>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gradFill rotWithShape="1">
            <a:gsLst>
              <a:gs pos="0">
                <a:srgbClr val="386BF6"/>
              </a:gs>
              <a:gs pos="100000">
                <a:srgbClr val="06D6A0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5486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 i="0">
                <a:solidFill>
                  <a:srgbClr val="06D6A0"/>
                </a:solidFill>
                <a:latin typeface="Segoe UI Semibold"/>
              </a:defRPr>
            </a:pPr>
            <a:r>
              <a:t>STATISTIK &amp; RIWAYAT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 i="0">
                <a:solidFill>
                  <a:srgbClr val="FFFFFF"/>
                </a:solidFill>
                <a:latin typeface="Segoe UI Light"/>
              </a:defRPr>
            </a:pPr>
            <a:r>
              <a:t>Dashboard &amp; Riwayat Absensi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280160"/>
            <a:ext cx="1645920" cy="32004"/>
          </a:xfrm>
          <a:prstGeom prst="rect">
            <a:avLst/>
          </a:prstGeom>
          <a:gradFill rotWithShape="1">
            <a:gsLst>
              <a:gs pos="0">
                <a:srgbClr val="386BF6"/>
              </a:gs>
              <a:gs pos="100000">
                <a:srgbClr val="06D6A0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2103120" y="2011680"/>
            <a:ext cx="3108960" cy="3200400"/>
          </a:xfrm>
          <a:prstGeom prst="ellipse">
            <a:avLst/>
          </a:prstGeom>
          <a:solidFill>
            <a:srgbClr val="12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468880" y="1417320"/>
            <a:ext cx="2377440" cy="4754880"/>
          </a:xfrm>
          <a:prstGeom prst="roundRect">
            <a:avLst>
              <a:gd name="adj" fmla="val 4000"/>
            </a:avLst>
          </a:prstGeom>
          <a:solidFill>
            <a:srgbClr val="162035"/>
          </a:solidFill>
          <a:ln w="635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Screenshot 2026-10-05 0947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0" y="1508760"/>
            <a:ext cx="2194560" cy="45720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2560320" y="6263640"/>
            <a:ext cx="2194560" cy="292608"/>
          </a:xfrm>
          <a:prstGeom prst="roundRect">
            <a:avLst>
              <a:gd name="adj" fmla="val 50000"/>
            </a:avLst>
          </a:prstGeom>
          <a:solidFill>
            <a:srgbClr val="162035"/>
          </a:solidFill>
          <a:ln w="635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560320" y="6272784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 i="0">
                <a:solidFill>
                  <a:srgbClr val="94A3B8"/>
                </a:solidFill>
                <a:latin typeface="Segoe UI"/>
              </a:defRPr>
            </a:pPr>
            <a:r>
              <a:t>Dashboard setelah absen</a:t>
            </a:r>
            <a:br/>
            <a:r>
              <a:t>dengan statistik dan aktivitas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0" y="2011680"/>
            <a:ext cx="3108960" cy="3200400"/>
          </a:xfrm>
          <a:prstGeom prst="ellipse">
            <a:avLst/>
          </a:prstGeom>
          <a:solidFill>
            <a:srgbClr val="12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766560" y="1417320"/>
            <a:ext cx="2377440" cy="4754880"/>
          </a:xfrm>
          <a:prstGeom prst="roundRect">
            <a:avLst>
              <a:gd name="adj" fmla="val 4000"/>
            </a:avLst>
          </a:prstGeom>
          <a:solidFill>
            <a:srgbClr val="162035"/>
          </a:solidFill>
          <a:ln w="635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Screenshot 2026-10-05 09474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508760"/>
            <a:ext cx="2194560" cy="457200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858000" y="6263640"/>
            <a:ext cx="2194560" cy="292608"/>
          </a:xfrm>
          <a:prstGeom prst="roundRect">
            <a:avLst>
              <a:gd name="adj" fmla="val 50000"/>
            </a:avLst>
          </a:prstGeom>
          <a:solidFill>
            <a:srgbClr val="162035"/>
          </a:solidFill>
          <a:ln w="635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0" y="6272784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 i="0">
                <a:solidFill>
                  <a:srgbClr val="94A3B8"/>
                </a:solidFill>
                <a:latin typeface="Segoe UI"/>
              </a:defRPr>
            </a:pPr>
            <a:r>
              <a:t>Riwayat Absensi</a:t>
            </a:r>
            <a:br/>
            <a:r>
              <a:t>filter Semua / Masuk / Izin / Selesai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gradFill rotWithShape="1">
            <a:gsLst>
              <a:gs pos="0">
                <a:srgbClr val="06D6A0"/>
              </a:gs>
              <a:gs pos="100000">
                <a:srgbClr val="386BF6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 i="0">
                <a:solidFill>
                  <a:srgbClr val="64748B"/>
                </a:solidFill>
                <a:latin typeface="Segoe UI Light"/>
              </a:defRPr>
            </a:pPr>
            <a:r>
              <a:t>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gradFill rotWithShape="1">
            <a:gsLst>
              <a:gs pos="0">
                <a:srgbClr val="386BF6"/>
              </a:gs>
              <a:gs pos="100000">
                <a:srgbClr val="06D6A0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5486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 i="0">
                <a:solidFill>
                  <a:srgbClr val="06D6A0"/>
                </a:solidFill>
                <a:latin typeface="Segoe UI Semibold"/>
              </a:defRPr>
            </a:pPr>
            <a:r>
              <a:t>DETAIL ABSENSI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 i="0">
                <a:solidFill>
                  <a:srgbClr val="FFFFFF"/>
                </a:solidFill>
                <a:latin typeface="Segoe UI Light"/>
              </a:defRPr>
            </a:pPr>
            <a:r>
              <a:t>Detail &amp; Manajemen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280160"/>
            <a:ext cx="1645920" cy="32004"/>
          </a:xfrm>
          <a:prstGeom prst="rect">
            <a:avLst/>
          </a:prstGeom>
          <a:gradFill rotWithShape="1">
            <a:gsLst>
              <a:gs pos="0">
                <a:srgbClr val="386BF6"/>
              </a:gs>
              <a:gs pos="100000">
                <a:srgbClr val="06D6A0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958187" y="2011680"/>
            <a:ext cx="2606040" cy="2926080"/>
          </a:xfrm>
          <a:prstGeom prst="ellipse">
            <a:avLst/>
          </a:prstGeom>
          <a:solidFill>
            <a:srgbClr val="12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159355" y="1417320"/>
            <a:ext cx="2203704" cy="4443984"/>
          </a:xfrm>
          <a:prstGeom prst="roundRect">
            <a:avLst>
              <a:gd name="adj" fmla="val 4000"/>
            </a:avLst>
          </a:prstGeom>
          <a:solidFill>
            <a:srgbClr val="162035"/>
          </a:solidFill>
          <a:ln w="635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Screenshot 2026-10-05 0948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507" y="1490472"/>
            <a:ext cx="2057400" cy="42976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2209647" y="598932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162035"/>
          </a:solidFill>
          <a:ln w="635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09647" y="5989320"/>
            <a:ext cx="2103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 i="0">
                <a:solidFill>
                  <a:srgbClr val="94A3B8"/>
                </a:solidFill>
                <a:latin typeface="Segoe UI"/>
              </a:defRPr>
            </a:pPr>
            <a:r>
              <a:t>Detail Absensi  -  Selesai</a:t>
            </a:r>
          </a:p>
        </p:txBody>
      </p:sp>
      <p:sp>
        <p:nvSpPr>
          <p:cNvPr id="11" name="Oval 10"/>
          <p:cNvSpPr/>
          <p:nvPr/>
        </p:nvSpPr>
        <p:spPr>
          <a:xfrm>
            <a:off x="4792827" y="2011680"/>
            <a:ext cx="2606040" cy="2926080"/>
          </a:xfrm>
          <a:prstGeom prst="ellipse">
            <a:avLst/>
          </a:prstGeom>
          <a:solidFill>
            <a:srgbClr val="12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993995" y="1417320"/>
            <a:ext cx="2203704" cy="4443984"/>
          </a:xfrm>
          <a:prstGeom prst="roundRect">
            <a:avLst>
              <a:gd name="adj" fmla="val 4000"/>
            </a:avLst>
          </a:prstGeom>
          <a:solidFill>
            <a:srgbClr val="162035"/>
          </a:solidFill>
          <a:ln w="635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Screenshot 2026-10-05 0948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7147" y="1490472"/>
            <a:ext cx="2057400" cy="429768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5044287" y="598932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162035"/>
          </a:solidFill>
          <a:ln w="635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44287" y="5989320"/>
            <a:ext cx="2103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 i="0">
                <a:solidFill>
                  <a:srgbClr val="94A3B8"/>
                </a:solidFill>
                <a:latin typeface="Segoe UI"/>
              </a:defRPr>
            </a:pPr>
            <a:r>
              <a:t>Konfirmasi Hapus Data</a:t>
            </a:r>
          </a:p>
        </p:txBody>
      </p:sp>
      <p:sp>
        <p:nvSpPr>
          <p:cNvPr id="16" name="Oval 15"/>
          <p:cNvSpPr/>
          <p:nvPr/>
        </p:nvSpPr>
        <p:spPr>
          <a:xfrm>
            <a:off x="7627467" y="2011680"/>
            <a:ext cx="2606040" cy="2926080"/>
          </a:xfrm>
          <a:prstGeom prst="ellipse">
            <a:avLst/>
          </a:prstGeom>
          <a:solidFill>
            <a:srgbClr val="12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828635" y="1417320"/>
            <a:ext cx="2203704" cy="4443984"/>
          </a:xfrm>
          <a:prstGeom prst="roundRect">
            <a:avLst>
              <a:gd name="adj" fmla="val 4000"/>
            </a:avLst>
          </a:prstGeom>
          <a:solidFill>
            <a:srgbClr val="162035"/>
          </a:solidFill>
          <a:ln w="635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Screenshot 2026-10-05 0949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1787" y="1490472"/>
            <a:ext cx="2057400" cy="4297680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7878927" y="598932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162035"/>
          </a:solidFill>
          <a:ln w="635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878927" y="5989320"/>
            <a:ext cx="2103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 i="0">
                <a:solidFill>
                  <a:srgbClr val="94A3B8"/>
                </a:solidFill>
                <a:latin typeface="Segoe UI"/>
              </a:defRPr>
            </a:pPr>
            <a:r>
              <a:t>Detail Absensi  -  Izin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gradFill rotWithShape="1">
            <a:gsLst>
              <a:gs pos="0">
                <a:srgbClr val="06D6A0"/>
              </a:gs>
              <a:gs pos="100000">
                <a:srgbClr val="386BF6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 i="0">
                <a:solidFill>
                  <a:srgbClr val="64748B"/>
                </a:solidFill>
                <a:latin typeface="Segoe UI Light"/>
              </a:defRPr>
            </a:pPr>
            <a:r>
              <a:t>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gradFill rotWithShape="1">
            <a:gsLst>
              <a:gs pos="0">
                <a:srgbClr val="386BF6"/>
              </a:gs>
              <a:gs pos="100000">
                <a:srgbClr val="06D6A0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5486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 i="0">
                <a:solidFill>
                  <a:srgbClr val="06D6A0"/>
                </a:solidFill>
                <a:latin typeface="Segoe UI Semibold"/>
              </a:defRPr>
            </a:pPr>
            <a:r>
              <a:t>HALAMAN PROFIL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 i="0">
                <a:solidFill>
                  <a:srgbClr val="FFFFFF"/>
                </a:solidFill>
                <a:latin typeface="Segoe UI Light"/>
              </a:defRPr>
            </a:pPr>
            <a:r>
              <a:t>Profil Pengguna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280160"/>
            <a:ext cx="1645920" cy="32004"/>
          </a:xfrm>
          <a:prstGeom prst="rect">
            <a:avLst/>
          </a:prstGeom>
          <a:gradFill rotWithShape="1">
            <a:gsLst>
              <a:gs pos="0">
                <a:srgbClr val="386BF6"/>
              </a:gs>
              <a:gs pos="100000">
                <a:srgbClr val="06D6A0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5486400" y="1920240"/>
            <a:ext cx="3703320" cy="3749040"/>
          </a:xfrm>
          <a:prstGeom prst="ellipse">
            <a:avLst/>
          </a:prstGeom>
          <a:solidFill>
            <a:srgbClr val="12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108192" y="1353312"/>
            <a:ext cx="2459736" cy="4882896"/>
          </a:xfrm>
          <a:prstGeom prst="roundRect">
            <a:avLst>
              <a:gd name="adj" fmla="val 4000"/>
            </a:avLst>
          </a:prstGeom>
          <a:solidFill>
            <a:srgbClr val="162035"/>
          </a:solidFill>
          <a:ln w="9525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Screenshot 2026-10-05 09495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463040"/>
            <a:ext cx="2240280" cy="46634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22960" y="2011680"/>
            <a:ext cx="32004" cy="3200400"/>
          </a:xfrm>
          <a:prstGeom prst="rect">
            <a:avLst/>
          </a:prstGeom>
          <a:solidFill>
            <a:srgbClr val="386B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2011680"/>
            <a:ext cx="4389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F1F5F9"/>
                </a:solidFill>
                <a:latin typeface="Segoe UI"/>
              </a:defRPr>
            </a:pPr>
            <a:r>
              <a:t>Halaman Profil menampilkan data peserta: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0F172A"/>
                </a:solidFill>
                <a:latin typeface="Segoe UI"/>
              </a:defRPr>
            </a:pPr>
            <a:endParaRPr/>
          </a:p>
          <a:p>
            <a:pPr algn="l">
              <a:spcAft>
                <a:spcPts val="400"/>
              </a:spcAft>
              <a:defRPr sz="1300" b="0">
                <a:solidFill>
                  <a:srgbClr val="94A3B8"/>
                </a:solidFill>
                <a:latin typeface="Segoe UI"/>
              </a:defRPr>
            </a:pPr>
            <a:r>
              <a:t>- Avatar dengan inisial nama pengguna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94A3B8"/>
                </a:solidFill>
                <a:latin typeface="Segoe UI"/>
              </a:defRPr>
            </a:pPr>
            <a:r>
              <a:t>- Informasi email dan peran peserta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94A3B8"/>
                </a:solidFill>
                <a:latin typeface="Segoe UI"/>
              </a:defRPr>
            </a:pPr>
            <a:r>
              <a:t>- Ringkasan statistik absensi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94A3B8"/>
                </a:solidFill>
                <a:latin typeface="Segoe UI"/>
              </a:defRPr>
            </a:pPr>
            <a:r>
              <a:t>- Data peserta yang bisa diedit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94A3B8"/>
                </a:solidFill>
                <a:latin typeface="Segoe UI"/>
              </a:defRPr>
            </a:pPr>
            <a:r>
              <a:t>- Toggle Mode Gelap / Terang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94A3B8"/>
                </a:solidFill>
                <a:latin typeface="Segoe UI"/>
              </a:defRPr>
            </a:pPr>
            <a:r>
              <a:t>- Tombol Keluar Akun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gradFill rotWithShape="1">
            <a:gsLst>
              <a:gs pos="0">
                <a:srgbClr val="06D6A0"/>
              </a:gs>
              <a:gs pos="100000">
                <a:srgbClr val="386BF6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 i="0">
                <a:solidFill>
                  <a:srgbClr val="64748B"/>
                </a:solidFill>
                <a:latin typeface="Segoe UI Light"/>
              </a:defRPr>
            </a:pPr>
            <a:r>
              <a:t>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gradFill rotWithShape="1">
            <a:gsLst>
              <a:gs pos="0">
                <a:srgbClr val="386BF6"/>
              </a:gs>
              <a:gs pos="100000">
                <a:srgbClr val="06D6A0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7315200" y="-914400"/>
            <a:ext cx="3657600" cy="3657600"/>
          </a:xfrm>
          <a:prstGeom prst="ellipse">
            <a:avLst/>
          </a:prstGeom>
          <a:solidFill>
            <a:srgbClr val="12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365760"/>
            <a:ext cx="5486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 i="0">
                <a:solidFill>
                  <a:srgbClr val="06D6A0"/>
                </a:solidFill>
                <a:latin typeface="Segoe UI Semibold"/>
              </a:defRPr>
            </a:pPr>
            <a:r>
              <a:t>TEKNOLOGI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8580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 i="0">
                <a:solidFill>
                  <a:srgbClr val="FFFFFF"/>
                </a:solidFill>
                <a:latin typeface="Segoe UI Light"/>
              </a:defRPr>
            </a:pPr>
            <a:r>
              <a:t>Tech Stack &amp; Arsitektur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280160"/>
            <a:ext cx="1645920" cy="32004"/>
          </a:xfrm>
          <a:prstGeom prst="rect">
            <a:avLst/>
          </a:prstGeom>
          <a:gradFill rotWithShape="1">
            <a:gsLst>
              <a:gs pos="0">
                <a:srgbClr val="386BF6"/>
              </a:gs>
              <a:gs pos="100000">
                <a:srgbClr val="06D6A0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94360" y="1737360"/>
            <a:ext cx="3291840" cy="1965960"/>
          </a:xfrm>
          <a:prstGeom prst="roundRect">
            <a:avLst>
              <a:gd name="adj" fmla="val 5000"/>
            </a:avLst>
          </a:prstGeom>
          <a:solidFill>
            <a:srgbClr val="162035"/>
          </a:solidFill>
          <a:ln w="635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12648" y="1755648"/>
            <a:ext cx="45720" cy="1929384"/>
          </a:xfrm>
          <a:prstGeom prst="roundRect">
            <a:avLst>
              <a:gd name="adj" fmla="val 50000"/>
            </a:avLst>
          </a:prstGeom>
          <a:solidFill>
            <a:srgbClr val="386B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68680" y="1920240"/>
            <a:ext cx="822960" cy="22860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386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1920240"/>
            <a:ext cx="8229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 i="0">
                <a:solidFill>
                  <a:srgbClr val="386BF6"/>
                </a:solidFill>
                <a:latin typeface="Segoe UI Semibold"/>
              </a:defRPr>
            </a:pPr>
            <a:r>
              <a:t>Front-end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331720"/>
            <a:ext cx="2834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1" i="0">
                <a:solidFill>
                  <a:srgbClr val="FFFFFF"/>
                </a:solidFill>
                <a:latin typeface="Segoe UI Semibold"/>
              </a:defRPr>
            </a:pPr>
            <a:r>
              <a:t>Flutter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2743200"/>
            <a:ext cx="548640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2880360"/>
            <a:ext cx="28346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 i="0">
                <a:solidFill>
                  <a:srgbClr val="94A3B8"/>
                </a:solidFill>
                <a:latin typeface="Segoe UI Light"/>
              </a:defRPr>
            </a:pPr>
            <a:r>
              <a:t>Framework UI cross-platform</a:t>
            </a:r>
            <a:br/>
            <a:r>
              <a:t>untuk Android &amp; iOS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1960" y="1737360"/>
            <a:ext cx="3291840" cy="1965960"/>
          </a:xfrm>
          <a:prstGeom prst="roundRect">
            <a:avLst>
              <a:gd name="adj" fmla="val 5000"/>
            </a:avLst>
          </a:prstGeom>
          <a:solidFill>
            <a:srgbClr val="162035"/>
          </a:solidFill>
          <a:ln w="635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270248" y="1755648"/>
            <a:ext cx="45720" cy="1929384"/>
          </a:xfrm>
          <a:prstGeom prst="roundRect">
            <a:avLst>
              <a:gd name="adj" fmla="val 50000"/>
            </a:avLst>
          </a:prstGeom>
          <a:solidFill>
            <a:srgbClr val="3EC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526280" y="1920240"/>
            <a:ext cx="822960" cy="22860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3ECF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26280" y="1920240"/>
            <a:ext cx="8229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 i="0">
                <a:solidFill>
                  <a:srgbClr val="3ECF8E"/>
                </a:solidFill>
                <a:latin typeface="Segoe UI Semibold"/>
              </a:defRPr>
            </a:pPr>
            <a:r>
              <a:t>Back-end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331720"/>
            <a:ext cx="2834640" cy="32004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1700" b="1" i="0">
                <a:solidFill>
                  <a:srgbClr val="FFFFFF"/>
                </a:solidFill>
                <a:latin typeface="Segoe UI Semibold"/>
              </a:defRPr>
            </a:pPr>
            <a:r>
              <a:rPr lang="en-ID" sz="1700" dirty="0" err="1">
                <a:solidFill>
                  <a:srgbClr val="FFFFFF"/>
                </a:solidFill>
                <a:latin typeface="Segoe UI Semibold"/>
              </a:rPr>
              <a:t>Sqflite</a:t>
            </a:r>
            <a:endParaRPr dirty="0"/>
          </a:p>
        </p:txBody>
      </p:sp>
      <p:sp>
        <p:nvSpPr>
          <p:cNvPr id="19" name="Rectangle 18"/>
          <p:cNvSpPr/>
          <p:nvPr/>
        </p:nvSpPr>
        <p:spPr>
          <a:xfrm>
            <a:off x="4526280" y="2743200"/>
            <a:ext cx="548640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26280" y="2880360"/>
            <a:ext cx="2834640" cy="54864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1100" b="0" i="0">
                <a:solidFill>
                  <a:srgbClr val="94A3B8"/>
                </a:solidFill>
                <a:latin typeface="Segoe UI Light"/>
              </a:defRPr>
            </a:pPr>
            <a:r>
              <a:rPr lang="en-ID" sz="1100" dirty="0" err="1">
                <a:solidFill>
                  <a:srgbClr val="94A3B8"/>
                </a:solidFill>
                <a:latin typeface="Segoe UI Light"/>
              </a:rPr>
              <a:t>Penyimpanan</a:t>
            </a:r>
            <a:r>
              <a:rPr lang="en-ID" sz="1100" dirty="0">
                <a:solidFill>
                  <a:srgbClr val="94A3B8"/>
                </a:solidFill>
                <a:latin typeface="Segoe UI Light"/>
              </a:rPr>
              <a:t> database </a:t>
            </a:r>
            <a:r>
              <a:rPr lang="en-ID" sz="1100" dirty="0" err="1">
                <a:solidFill>
                  <a:srgbClr val="94A3B8"/>
                </a:solidFill>
                <a:latin typeface="Segoe UI Light"/>
              </a:rPr>
              <a:t>lokal</a:t>
            </a:r>
            <a:r>
              <a:rPr lang="en-ID" sz="1100" dirty="0">
                <a:solidFill>
                  <a:srgbClr val="94A3B8"/>
                </a:solidFill>
                <a:latin typeface="Segoe UI Light"/>
              </a:rPr>
              <a:t> (SQLite) pada </a:t>
            </a:r>
            <a:r>
              <a:rPr lang="en-ID" sz="1100" dirty="0" err="1">
                <a:solidFill>
                  <a:srgbClr val="94A3B8"/>
                </a:solidFill>
                <a:latin typeface="Segoe UI Light"/>
              </a:rPr>
              <a:t>perangkat</a:t>
            </a:r>
            <a:r>
              <a:rPr lang="en-ID" sz="1100" dirty="0">
                <a:solidFill>
                  <a:srgbClr val="94A3B8"/>
                </a:solidFill>
                <a:latin typeface="Segoe UI Light"/>
              </a:rPr>
              <a:t> mobile</a:t>
            </a:r>
            <a:endParaRPr dirty="0"/>
          </a:p>
        </p:txBody>
      </p:sp>
      <p:sp>
        <p:nvSpPr>
          <p:cNvPr id="21" name="Rounded Rectangle 20"/>
          <p:cNvSpPr/>
          <p:nvPr/>
        </p:nvSpPr>
        <p:spPr>
          <a:xfrm>
            <a:off x="7909560" y="1737360"/>
            <a:ext cx="3291840" cy="1965960"/>
          </a:xfrm>
          <a:prstGeom prst="roundRect">
            <a:avLst>
              <a:gd name="adj" fmla="val 5000"/>
            </a:avLst>
          </a:prstGeom>
          <a:solidFill>
            <a:srgbClr val="162035"/>
          </a:solidFill>
          <a:ln w="635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7927848" y="1755648"/>
            <a:ext cx="45720" cy="1929384"/>
          </a:xfrm>
          <a:prstGeom prst="roundRect">
            <a:avLst>
              <a:gd name="adj" fmla="val 50000"/>
            </a:avLst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8183880" y="1920240"/>
            <a:ext cx="822960" cy="22860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183880" y="1920240"/>
            <a:ext cx="8229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 i="0">
                <a:solidFill>
                  <a:srgbClr val="4285F4"/>
                </a:solidFill>
                <a:latin typeface="Segoe UI Semibold"/>
              </a:defRPr>
            </a:pPr>
            <a:r>
              <a:t>Maps API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83880" y="2331720"/>
            <a:ext cx="2834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1" i="0">
                <a:solidFill>
                  <a:srgbClr val="FFFFFF"/>
                </a:solidFill>
                <a:latin typeface="Segoe UI Semibold"/>
              </a:defRPr>
            </a:pPr>
            <a:r>
              <a:t>Google Maps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83880" y="2743200"/>
            <a:ext cx="548640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183880" y="2880360"/>
            <a:ext cx="28346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 i="0">
                <a:solidFill>
                  <a:srgbClr val="94A3B8"/>
                </a:solidFill>
                <a:latin typeface="Segoe UI Light"/>
              </a:defRPr>
            </a:pPr>
            <a:r>
              <a:t>API untuk tampilan peta</a:t>
            </a:r>
            <a:br/>
            <a:r>
              <a:t>dan geocoding lokasi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" y="4023360"/>
            <a:ext cx="3291840" cy="1965960"/>
          </a:xfrm>
          <a:prstGeom prst="roundRect">
            <a:avLst>
              <a:gd name="adj" fmla="val 5000"/>
            </a:avLst>
          </a:prstGeom>
          <a:solidFill>
            <a:srgbClr val="162035"/>
          </a:solidFill>
          <a:ln w="635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612648" y="4041648"/>
            <a:ext cx="45720" cy="1929384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68680" y="4206240"/>
            <a:ext cx="822960" cy="22860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68680" y="4206240"/>
            <a:ext cx="8229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 i="0">
                <a:solidFill>
                  <a:srgbClr val="F97316"/>
                </a:solidFill>
                <a:latin typeface="Segoe UI Semibold"/>
              </a:defRPr>
            </a:pPr>
            <a:r>
              <a:t>Security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4617720"/>
            <a:ext cx="2834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1" i="0">
                <a:solidFill>
                  <a:srgbClr val="FFFFFF"/>
                </a:solidFill>
                <a:latin typeface="Segoe UI Semibold"/>
              </a:defRPr>
            </a:pPr>
            <a:r>
              <a:t>Auth System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68680" y="5029200"/>
            <a:ext cx="548640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68680" y="5166360"/>
            <a:ext cx="28346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 i="0">
                <a:solidFill>
                  <a:srgbClr val="94A3B8"/>
                </a:solidFill>
                <a:latin typeface="Segoe UI Light"/>
              </a:defRPr>
            </a:pPr>
            <a:r>
              <a:t>Autentikasi email/password</a:t>
            </a:r>
            <a:br/>
            <a:r>
              <a:t>dengan session management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51960" y="4023360"/>
            <a:ext cx="3291840" cy="1965960"/>
          </a:xfrm>
          <a:prstGeom prst="roundRect">
            <a:avLst>
              <a:gd name="adj" fmla="val 5000"/>
            </a:avLst>
          </a:prstGeom>
          <a:solidFill>
            <a:srgbClr val="162035"/>
          </a:solidFill>
          <a:ln w="635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4270248" y="4041648"/>
            <a:ext cx="45720" cy="1929384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4526280" y="4206240"/>
            <a:ext cx="822960" cy="22860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526280" y="4206240"/>
            <a:ext cx="8229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 i="0">
                <a:solidFill>
                  <a:srgbClr val="8B5CF6"/>
                </a:solidFill>
                <a:latin typeface="Segoe UI Semibold"/>
              </a:defRPr>
            </a:pPr>
            <a:r>
              <a:t>UI/UX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26280" y="4617720"/>
            <a:ext cx="2834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1" i="0">
                <a:solidFill>
                  <a:srgbClr val="FFFFFF"/>
                </a:solidFill>
                <a:latin typeface="Segoe UI Semibold"/>
              </a:defRPr>
            </a:pPr>
            <a:r>
              <a:t>Dark Mode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26280" y="5029200"/>
            <a:ext cx="548640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526280" y="5166360"/>
            <a:ext cx="28346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 i="0">
                <a:solidFill>
                  <a:srgbClr val="94A3B8"/>
                </a:solidFill>
                <a:latin typeface="Segoe UI Light"/>
              </a:defRPr>
            </a:pPr>
            <a:r>
              <a:t>Tema gelap elegan dengan</a:t>
            </a:r>
            <a:br/>
            <a:r>
              <a:t>toggle dinamis real-time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909560" y="4023360"/>
            <a:ext cx="3291840" cy="1965960"/>
          </a:xfrm>
          <a:prstGeom prst="roundRect">
            <a:avLst>
              <a:gd name="adj" fmla="val 5000"/>
            </a:avLst>
          </a:prstGeom>
          <a:solidFill>
            <a:srgbClr val="162035"/>
          </a:solidFill>
          <a:ln w="635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7927848" y="4041648"/>
            <a:ext cx="45720" cy="1929384"/>
          </a:xfrm>
          <a:prstGeom prst="roundRect">
            <a:avLst>
              <a:gd name="adj" fmla="val 50000"/>
            </a:avLst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8183880" y="4206240"/>
            <a:ext cx="822960" cy="22860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183880" y="4206240"/>
            <a:ext cx="8229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 i="0">
                <a:solidFill>
                  <a:srgbClr val="EC4899"/>
                </a:solidFill>
                <a:latin typeface="Segoe UI Semibold"/>
              </a:defRPr>
            </a:pPr>
            <a:r>
              <a:t>Data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83880" y="4617720"/>
            <a:ext cx="2834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1" i="0">
                <a:solidFill>
                  <a:srgbClr val="FFFFFF"/>
                </a:solidFill>
                <a:latin typeface="Segoe UI Semibold"/>
              </a:defRPr>
            </a:pPr>
            <a:r>
              <a:t>Real-time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183880" y="5029200"/>
            <a:ext cx="548640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183880" y="5166360"/>
            <a:ext cx="28346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 i="0">
                <a:solidFill>
                  <a:srgbClr val="94A3B8"/>
                </a:solidFill>
                <a:latin typeface="Segoe UI Light"/>
              </a:defRPr>
            </a:pPr>
            <a:r>
              <a:t>Statistik kehadiran</a:t>
            </a:r>
            <a:br/>
            <a:r>
              <a:t>diperbarui secara live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gradFill rotWithShape="1">
            <a:gsLst>
              <a:gs pos="0">
                <a:srgbClr val="06D6A0"/>
              </a:gs>
              <a:gs pos="100000">
                <a:srgbClr val="386BF6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 i="0">
                <a:solidFill>
                  <a:srgbClr val="64748B"/>
                </a:solidFill>
                <a:latin typeface="Segoe UI Light"/>
              </a:defRPr>
            </a:pPr>
            <a: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gradFill rotWithShape="1">
            <a:gsLst>
              <a:gs pos="0">
                <a:srgbClr val="386BF6"/>
              </a:gs>
              <a:gs pos="100000">
                <a:srgbClr val="06D6A0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7315200" y="1371600"/>
            <a:ext cx="6400800" cy="6400800"/>
          </a:xfrm>
          <a:prstGeom prst="ellipse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2286000" y="-1828800"/>
            <a:ext cx="4572000" cy="4572000"/>
          </a:xfrm>
          <a:prstGeom prst="ellipse">
            <a:avLst/>
          </a:prstGeom>
          <a:solidFill>
            <a:srgbClr val="12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14400" y="5029200"/>
            <a:ext cx="2743200" cy="2743200"/>
          </a:xfrm>
          <a:prstGeom prst="ellipse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1645920"/>
            <a:ext cx="91440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5200" b="1" i="0">
                <a:solidFill>
                  <a:srgbClr val="FFFFFF"/>
                </a:solidFill>
                <a:latin typeface="Segoe UI Light"/>
              </a:defRPr>
            </a:pPr>
            <a:r>
              <a:t>Terima Kasih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65176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 i="0">
                <a:solidFill>
                  <a:srgbClr val="06D6A0"/>
                </a:solidFill>
                <a:latin typeface="Segoe UI Semibold"/>
              </a:defRPr>
            </a:pPr>
            <a:r>
              <a:rPr dirty="0"/>
              <a:t>SAPTA - </a:t>
            </a:r>
            <a:r>
              <a:rPr dirty="0" err="1"/>
              <a:t>Sistem</a:t>
            </a:r>
            <a:r>
              <a:rPr dirty="0"/>
              <a:t> </a:t>
            </a:r>
            <a:r>
              <a:rPr dirty="0" err="1"/>
              <a:t>Absensi</a:t>
            </a:r>
            <a:r>
              <a:rPr dirty="0"/>
              <a:t> </a:t>
            </a:r>
            <a:r>
              <a:rPr dirty="0" err="1"/>
              <a:t>Pelatihan</a:t>
            </a:r>
            <a:endParaRPr dirty="0"/>
          </a:p>
        </p:txBody>
      </p:sp>
      <p:sp>
        <p:nvSpPr>
          <p:cNvPr id="8" name="Rectangle 7"/>
          <p:cNvSpPr/>
          <p:nvPr/>
        </p:nvSpPr>
        <p:spPr>
          <a:xfrm>
            <a:off x="4754880" y="3383280"/>
            <a:ext cx="2743200" cy="27432"/>
          </a:xfrm>
          <a:prstGeom prst="rect">
            <a:avLst/>
          </a:prstGeom>
          <a:gradFill rotWithShape="1">
            <a:gsLst>
              <a:gs pos="0">
                <a:srgbClr val="386BF6"/>
              </a:gs>
              <a:gs pos="100000">
                <a:srgbClr val="06D6A0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86000" y="3657600"/>
            <a:ext cx="73152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500" b="0" i="0">
                <a:solidFill>
                  <a:srgbClr val="94A3B8"/>
                </a:solidFill>
                <a:latin typeface="Segoe UI Light"/>
              </a:defRPr>
            </a:pPr>
            <a:r>
              <a:rPr dirty="0" err="1"/>
              <a:t>Aplikasi</a:t>
            </a:r>
            <a:r>
              <a:rPr dirty="0"/>
              <a:t> </a:t>
            </a:r>
            <a:r>
              <a:rPr dirty="0" err="1"/>
              <a:t>pencatatan</a:t>
            </a:r>
            <a:r>
              <a:rPr dirty="0"/>
              <a:t> </a:t>
            </a:r>
            <a:r>
              <a:rPr dirty="0" err="1"/>
              <a:t>kehadiran</a:t>
            </a:r>
            <a:r>
              <a:rPr dirty="0"/>
              <a:t> </a:t>
            </a:r>
            <a:r>
              <a:rPr dirty="0" err="1"/>
              <a:t>pelatihan</a:t>
            </a:r>
            <a:r>
              <a:rPr dirty="0"/>
              <a:t> yang modern,</a:t>
            </a:r>
            <a:br>
              <a:rPr dirty="0"/>
            </a:br>
            <a:r>
              <a:rPr dirty="0"/>
              <a:t>amen, dan </a:t>
            </a:r>
            <a:r>
              <a:rPr dirty="0" err="1"/>
              <a:t>mudah</a:t>
            </a:r>
            <a:r>
              <a:rPr dirty="0"/>
              <a:t> </a:t>
            </a:r>
            <a:r>
              <a:rPr dirty="0" err="1"/>
              <a:t>digunakan</a:t>
            </a:r>
            <a:r>
              <a:rPr dirty="0"/>
              <a:t>.</a:t>
            </a:r>
            <a:br>
              <a:rPr dirty="0"/>
            </a:br>
            <a:br>
              <a:rPr dirty="0"/>
            </a:br>
            <a:r>
              <a:rPr dirty="0" err="1"/>
              <a:t>Dibuat</a:t>
            </a:r>
            <a:r>
              <a:rPr dirty="0"/>
              <a:t> </a:t>
            </a:r>
            <a:r>
              <a:rPr dirty="0" err="1"/>
              <a:t>dengan</a:t>
            </a:r>
            <a:r>
              <a:rPr dirty="0"/>
              <a:t> Flutter &amp; </a:t>
            </a:r>
            <a:r>
              <a:rPr lang="en-US"/>
              <a:t>Sqflite</a:t>
            </a:r>
            <a:endParaRPr dirty="0"/>
          </a:p>
        </p:txBody>
      </p:sp>
      <p:sp>
        <p:nvSpPr>
          <p:cNvPr id="10" name="Rounded Rectangle 9"/>
          <p:cNvSpPr/>
          <p:nvPr/>
        </p:nvSpPr>
        <p:spPr>
          <a:xfrm>
            <a:off x="3474720" y="5212080"/>
            <a:ext cx="5212080" cy="685800"/>
          </a:xfrm>
          <a:prstGeom prst="roundRect">
            <a:avLst>
              <a:gd name="adj" fmla="val 8000"/>
            </a:avLst>
          </a:prstGeom>
          <a:solidFill>
            <a:srgbClr val="162035"/>
          </a:solidFill>
          <a:ln w="635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49039" y="5321808"/>
            <a:ext cx="4663440" cy="4514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00" b="0">
                <a:solidFill>
                  <a:srgbClr val="F1F5F9"/>
                </a:solidFill>
                <a:latin typeface="Segoe UI"/>
              </a:defRPr>
            </a:pPr>
            <a:r>
              <a:rPr dirty="0"/>
              <a:t>lavenderpoet607@gmail.com</a:t>
            </a:r>
          </a:p>
          <a:p>
            <a:pPr algn="ctr">
              <a:spcAft>
                <a:spcPts val="400"/>
              </a:spcAft>
              <a:defRPr sz="900" b="0">
                <a:solidFill>
                  <a:srgbClr val="64748B"/>
                </a:solidFill>
                <a:latin typeface="Segoe UI"/>
              </a:defRPr>
            </a:pPr>
            <a:r>
              <a:rPr dirty="0"/>
              <a:t>Flutter App  |  </a:t>
            </a:r>
            <a:r>
              <a:rPr lang="en-US" dirty="0" err="1"/>
              <a:t>Sqflite</a:t>
            </a:r>
            <a:r>
              <a:rPr lang="en-US" dirty="0"/>
              <a:t> </a:t>
            </a:r>
            <a:r>
              <a:rPr dirty="0"/>
              <a:t>Backend  |  GPS Location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gradFill rotWithShape="1">
            <a:gsLst>
              <a:gs pos="0">
                <a:srgbClr val="06D6A0"/>
              </a:gs>
              <a:gs pos="100000">
                <a:srgbClr val="386BF6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 i="0">
                <a:solidFill>
                  <a:srgbClr val="64748B"/>
                </a:solidFill>
                <a:latin typeface="Segoe UI Light"/>
              </a:defRPr>
            </a:pPr>
            <a:r>
              <a:t>11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452</Words>
  <Application>Microsoft Office PowerPoint</Application>
  <PresentationFormat>Widescreen</PresentationFormat>
  <Paragraphs>109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Segoe UI Light</vt:lpstr>
      <vt:lpstr>Segoe UI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Ridho Tawang</cp:lastModifiedBy>
  <cp:revision>3</cp:revision>
  <dcterms:created xsi:type="dcterms:W3CDTF">2013-01-27T09:14:16Z</dcterms:created>
  <dcterms:modified xsi:type="dcterms:W3CDTF">2026-10-05T05:03:54Z</dcterms:modified>
  <cp:category/>
</cp:coreProperties>
</file>